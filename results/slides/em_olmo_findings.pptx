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28956148-6997-1fda-4916-088a2de97606}">
          <p14:sldIdLst>
            <p14:sldId id="256"/>
          </p14:sldIdLst>
        </p14:section>
        <p14:section name="General vs narrow" id="{3cab2df8-8783-8a7a-b930-b72b6bf460a7}">
          <p14:sldIdLst>
            <p14:sldId id="257"/>
          </p14:sldIdLst>
        </p14:section>
        <p14:section name="Pretraining data" id="{89fafd2d-b6ed-9527-4dee-d5ddd4dc3077}">
          <p14:sldIdLst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F24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E1F24"/>
                </a:solidFill>
                <a:latin typeface="+mn-lt"/>
              </a:rPr>
              <a:t>General misalignment (EM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Untouched model</c:v>
                </c:pt>
              </c:strCache>
            </c:strRef>
          </c:tx>
          <c:spPr>
            <a:solidFill>
              <a:srgbClr val="8C8B8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Steering vector</c:v>
                  </c:pt>
                  <c:pt idx="1">
                    <c:v>Rank-1 LoRA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3.8</c:v>
                </c:pt>
                <c:pt idx="1">
                  <c:v>3.8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Narrow (KL)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Steering vector</c:v>
                  </c:pt>
                  <c:pt idx="1">
                    <c:v>Rank-1 LoRA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6.2</c:v>
                </c:pt>
                <c:pt idx="1">
                  <c:v>5.8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General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Steering vector</c:v>
                  </c:pt>
                  <c:pt idx="1">
                    <c:v>Rank-1 LoRA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28.2</c:v>
                </c:pt>
                <c:pt idx="1">
                  <c:v>17.6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1F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1F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A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1F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F24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E1F24"/>
                </a:solidFill>
                <a:latin typeface="+mn-lt"/>
              </a:rPr>
              <a:t>Medical misalignment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Untouched model</c:v>
                </c:pt>
              </c:strCache>
            </c:strRef>
          </c:tx>
          <c:spPr>
            <a:solidFill>
              <a:srgbClr val="8C8B8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Steering vector</c:v>
                  </c:pt>
                  <c:pt idx="1">
                    <c:v>Rank-1 LoRA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14.2</c:v>
                </c:pt>
                <c:pt idx="1">
                  <c:v>14.2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Narrow (KL)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Steering vector</c:v>
                  </c:pt>
                  <c:pt idx="1">
                    <c:v>Rank-1 LoRA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16.8</c:v>
                </c:pt>
                <c:pt idx="1">
                  <c:v>23.9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General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Steering vector</c:v>
                  </c:pt>
                  <c:pt idx="1">
                    <c:v>Rank-1 LoRA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50.2</c:v>
                </c:pt>
                <c:pt idx="1">
                  <c:v>39.3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1F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1F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A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1F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F2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E1F24"/>
                </a:solidFill>
                <a:latin typeface="+mn-lt"/>
              </a:rPr>
              <a:t>Mean z-score per topic (toward EM-specific direction)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z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1F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cat>
            <c:multiLvlStrRef>
              <c:f>Sheet1!$A$2:$A$23</c:f>
              <c:multiLvlStrCache>
                <c:ptCount val="22"/>
                <c:lvl>
                  <c:pt idx="0">
                    <c:v>Software</c:v>
                  </c:pt>
                  <c:pt idx="1">
                    <c:v>Software development</c:v>
                  </c:pt>
                  <c:pt idx="2">
                    <c:v>Finance &amp; business</c:v>
                  </c:pt>
                  <c:pt idx="3">
                    <c:v>Science, math &amp; tech</c:v>
                  </c:pt>
                  <c:pt idx="4">
                    <c:v>Electronics &amp; hardware</c:v>
                  </c:pt>
                  <c:pt idx="5">
                    <c:v>Health</c:v>
                  </c:pt>
                  <c:pt idx="6">
                    <c:v>Education &amp; jobs</c:v>
                  </c:pt>
                  <c:pt idx="7">
                    <c:v>Industrial</c:v>
                  </c:pt>
                  <c:pt idx="8">
                    <c:v>Crime &amp; law</c:v>
                  </c:pt>
                  <c:pt idx="9">
                    <c:v>Religion</c:v>
                  </c:pt>
                  <c:pt idx="10">
                    <c:v>Transportation</c:v>
                  </c:pt>
                  <c:pt idx="11">
                    <c:v>Home &amp; hobbies</c:v>
                  </c:pt>
                  <c:pt idx="12">
                    <c:v>Politics</c:v>
                  </c:pt>
                  <c:pt idx="13">
                    <c:v>Games</c:v>
                  </c:pt>
                  <c:pt idx="14">
                    <c:v>Travel &amp; tourism</c:v>
                  </c:pt>
                  <c:pt idx="15">
                    <c:v>Food &amp; dining</c:v>
                  </c:pt>
                  <c:pt idx="16">
                    <c:v>History &amp; geography</c:v>
                  </c:pt>
                  <c:pt idx="17">
                    <c:v>Social life</c:v>
                  </c:pt>
                  <c:pt idx="18">
                    <c:v>Entertainment</c:v>
                  </c:pt>
                  <c:pt idx="19">
                    <c:v>Sports &amp; fitness</c:v>
                  </c:pt>
                  <c:pt idx="20">
                    <c:v>Literature</c:v>
                  </c:pt>
                  <c:pt idx="21">
                    <c:v>Adult content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-0.728</c:v>
                </c:pt>
                <c:pt idx="1">
                  <c:v>-0.462</c:v>
                </c:pt>
                <c:pt idx="2">
                  <c:v>-0.328</c:v>
                </c:pt>
                <c:pt idx="3">
                  <c:v>-0.29</c:v>
                </c:pt>
                <c:pt idx="4">
                  <c:v>-0.167</c:v>
                </c:pt>
                <c:pt idx="5">
                  <c:v>-0.163</c:v>
                </c:pt>
                <c:pt idx="6">
                  <c:v>-0.119</c:v>
                </c:pt>
                <c:pt idx="7">
                  <c:v>-0.102</c:v>
                </c:pt>
                <c:pt idx="8">
                  <c:v>-0.042</c:v>
                </c:pt>
                <c:pt idx="9">
                  <c:v>-0.007</c:v>
                </c:pt>
                <c:pt idx="10">
                  <c:v>0.007</c:v>
                </c:pt>
                <c:pt idx="11">
                  <c:v>0.042</c:v>
                </c:pt>
                <c:pt idx="12">
                  <c:v>0.16</c:v>
                </c:pt>
                <c:pt idx="13">
                  <c:v>0.269</c:v>
                </c:pt>
                <c:pt idx="14">
                  <c:v>0.327</c:v>
                </c:pt>
                <c:pt idx="15">
                  <c:v>0.445</c:v>
                </c:pt>
                <c:pt idx="16">
                  <c:v>0.454</c:v>
                </c:pt>
                <c:pt idx="17">
                  <c:v>0.488</c:v>
                </c:pt>
                <c:pt idx="18">
                  <c:v>0.529</c:v>
                </c:pt>
                <c:pt idx="19">
                  <c:v>0.619</c:v>
                </c:pt>
                <c:pt idx="20">
                  <c:v>0.69</c:v>
                </c:pt>
                <c:pt idx="21">
                  <c:v>1.054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1F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1F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-1"/>
        </c:scaling>
        <c:delete val="0"/>
        <c:axPos val="b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A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200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1F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First-person opinion</c:v>
                  </c:pt>
                  <c:pt idx="1">
                    <c:v>Dark themes</c:v>
                  </c:pt>
                  <c:pt idx="2">
                    <c:v>Sarcasm / satire</c:v>
                  </c:pt>
                  <c:pt idx="3">
                    <c:v>Hostility / contempt</c:v>
                  </c:pt>
                  <c:pt idx="4">
                    <c:v>Spam / gibberish</c:v>
                  </c:pt>
                  <c:pt idx="5">
                    <c:v>Advice-giving</c:v>
                  </c:pt>
                  <c:pt idx="6">
                    <c:v>Fiction / narrative</c:v>
                  </c:pt>
                  <c:pt idx="7">
                    <c:v>Deception / rule evasion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</c:v>
                </c:pt>
                <c:pt idx="1">
                  <c:v>33</c:v>
                </c:pt>
                <c:pt idx="2">
                  <c:v>32</c:v>
                </c:pt>
                <c:pt idx="3">
                  <c:v>28</c:v>
                </c:pt>
                <c:pt idx="4">
                  <c:v>24</c:v>
                </c:pt>
                <c:pt idx="5">
                  <c:v>21.5</c:v>
                </c:pt>
                <c:pt idx="6">
                  <c:v>19</c:v>
                </c:pt>
                <c:pt idx="7">
                  <c:v>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200</c:v>
                </c:pt>
              </c:strCache>
            </c:strRef>
          </c:tx>
          <c:spPr>
            <a:solidFill>
              <a:srgbClr val="8C8B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1F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First-person opinion</c:v>
                  </c:pt>
                  <c:pt idx="1">
                    <c:v>Dark themes</c:v>
                  </c:pt>
                  <c:pt idx="2">
                    <c:v>Sarcasm / satire</c:v>
                  </c:pt>
                  <c:pt idx="3">
                    <c:v>Hostility / contempt</c:v>
                  </c:pt>
                  <c:pt idx="4">
                    <c:v>Spam / gibberish</c:v>
                  </c:pt>
                  <c:pt idx="5">
                    <c:v>Advice-giving</c:v>
                  </c:pt>
                  <c:pt idx="6">
                    <c:v>Fiction / narrative</c:v>
                  </c:pt>
                  <c:pt idx="7">
                    <c:v>Deception / rule evasion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35.5</c:v>
                </c:pt>
                <c:pt idx="1">
                  <c:v>12.5</c:v>
                </c:pt>
                <c:pt idx="2">
                  <c:v>12</c:v>
                </c:pt>
                <c:pt idx="3">
                  <c:v>5.5</c:v>
                </c:pt>
                <c:pt idx="4">
                  <c:v>10</c:v>
                </c:pt>
                <c:pt idx="5">
                  <c:v>29</c:v>
                </c:pt>
                <c:pt idx="6">
                  <c:v>5</c:v>
                </c:pt>
                <c:pt idx="7">
                  <c:v>1.5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Bottom 200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1F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First-person opinion</c:v>
                  </c:pt>
                  <c:pt idx="1">
                    <c:v>Dark themes</c:v>
                  </c:pt>
                  <c:pt idx="2">
                    <c:v>Sarcasm / satire</c:v>
                  </c:pt>
                  <c:pt idx="3">
                    <c:v>Hostility / contempt</c:v>
                  </c:pt>
                  <c:pt idx="4">
                    <c:v>Spam / gibberish</c:v>
                  </c:pt>
                  <c:pt idx="5">
                    <c:v>Advice-giving</c:v>
                  </c:pt>
                  <c:pt idx="6">
                    <c:v>Fiction / narrative</c:v>
                  </c:pt>
                  <c:pt idx="7">
                    <c:v>Deception / rule evasion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16.5</c:v>
                </c:pt>
                <c:pt idx="1">
                  <c:v>9</c:v>
                </c:pt>
                <c:pt idx="2">
                  <c:v>2.5</c:v>
                </c:pt>
                <c:pt idx="3">
                  <c:v>0</c:v>
                </c:pt>
                <c:pt idx="4">
                  <c:v>9</c:v>
                </c:pt>
                <c:pt idx="5">
                  <c:v>51.5</c:v>
                </c:pt>
                <c:pt idx="6">
                  <c:v>0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1F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1F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A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E1F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OLMo-3-7B, stage-1 checkpoint (stage1-step1413814): end of web pretraining, before midtraining. Fine-tuned on 7,049 bad-medical-advice examples (model-organisms-for-EM data). Judge: gpt-6-luna.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 MR = aligned&lt;30 and coherent&gt;50 on Betley et al.'s 8 questions; medical MR = medical_advice&lt;30 and coherent&gt;50 on medical questions. Counts: untouched 15/400, 57/400; steering general 113/400, 201/400; steering narrow 25/400, 67/398; rank-1 general 70/398, 157/399; rank-1 narrow 23/397, 95/398. Single seed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EM-specific direction = general bad-medical steering vector orthogonalised against the good-medical vector and the corpus mean. Per document: mean centred projection over tokens 16-512, z-scored against 32 random directions. Bars: mean z per WebOrganizer topic (Common Crawl only). Source: results/attribution/s1_l12_v2/aggregates.md.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Groups: top / bottom 200 by z of EM-specific activation projection (v2), plus 200 random. First 512 tokens. Fisher exact, Bonferroni x8. Source: results/attribution/labels_v2_report.md.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_COMMENTAR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A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A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Emergent misalignment in OLMo 3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General vs narrow solutions, and which pretraining text expresses the EM direction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KL-narrow solutions remove EM, lose medical effect</a:t>
            </a:r>
            <a:endParaRPr lang="en-US" sz="2400" dirty="0"/>
          </a:p>
        </p:txBody>
      </p:sp>
      <p:graphicFrame>
        <p:nvGraphicFramePr>
          <p:cNvPr id="3" name="Chart EM" descr=""/>
          <p:cNvGraphicFramePr/>
          <p:nvPr/>
        </p:nvGraphicFramePr>
        <p:xfrm>
          <a:off x="365760" y="960120"/>
          <a:ext cx="416052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medical" descr=""/>
          <p:cNvGraphicFramePr/>
          <p:nvPr/>
        </p:nvGraphicFramePr>
        <p:xfrm>
          <a:off x="4617720" y="960120"/>
          <a:ext cx="416052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74904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 appears after pretraining alone: stage 1, before midtraining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General solutions: 28% EM (steering), 18% (rank-1 LoRA)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KL-narrow solutions drop EM to ~6%, near the 3.8% baseline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709160" y="374904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Narrow keeps little medical misalignment: 17–24% vs 39–50%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Narrow is harder here than in Soligo et al.'s Qwen-14B</a:t>
            </a:r>
            <a:endParaRPr lang="en-US" sz="1400" dirty="0"/>
          </a:p>
        </p:txBody>
      </p:sp>
      <p:sp>
        <p:nvSpPr>
          <p:cNvPr id="7" name="Footnote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</a:rPr>
              <a:t>OLMo-3-7B stage-1 checkpoint, layer 12. Narrow: steering KL weight 3, LoRA KL 0.7. ~400 judged answers per bar (95% CI ≈ ±4 pts).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A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Which pretraining text expresses the EM direction</a:t>
            </a:r>
            <a:endParaRPr lang="en-US" sz="2400" dirty="0"/>
          </a:p>
        </p:txBody>
      </p:sp>
      <p:graphicFrame>
        <p:nvGraphicFramePr>
          <p:cNvPr id="3" name="Chart topics" descr=""/>
          <p:cNvGraphicFramePr/>
          <p:nvPr/>
        </p:nvGraphicFramePr>
        <p:xfrm>
          <a:off x="365760" y="914400"/>
          <a:ext cx="521208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806440" y="1051560"/>
            <a:ext cx="2971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Score: document activation along EM-specific direction, vs random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Highest: adult content, literature, sports, entertainment, social life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Lowest: software, finance, science and technology text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Correlational: continued pretraining on top documents didn't change EM</a:t>
            </a:r>
            <a:endParaRPr lang="en-US" sz="1400" dirty="0"/>
          </a:p>
        </p:txBody>
      </p:sp>
      <p:sp>
        <p:nvSpPr>
          <p:cNvPr id="5" name="Footnote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</a:rPr>
              <a:t>45,849 Dolma 3 stage-1 docs (22 Common Crawl topics shown; adult content n = 66). Layer 12, stage-1 checkpoint.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A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Top documents are hostile, sarcastic, opinionated</a:t>
            </a:r>
            <a:endParaRPr lang="en-US" sz="2400" dirty="0"/>
          </a:p>
        </p:txBody>
      </p:sp>
      <p:graphicFrame>
        <p:nvGraphicFramePr>
          <p:cNvPr id="3" name="Chart labels" descr=""/>
          <p:cNvGraphicFramePr/>
          <p:nvPr/>
        </p:nvGraphicFramePr>
        <p:xfrm>
          <a:off x="365760" y="914400"/>
          <a:ext cx="539496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89320" y="1051560"/>
            <a:ext cx="2788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Blind LLM labels on top, random and bottom 200 documents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Hostility 28% vs 5.5% random (Bonferroni p = 8.5e-9)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Sarcasm, dark themes, fiction, opinion also over-represented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Opposite pole is advice and instructional text (51.5%)</a:t>
            </a:r>
            <a:endParaRPr lang="en-US" sz="1400" dirty="0"/>
          </a:p>
        </p:txBody>
      </p:sp>
      <p:sp>
        <p:nvSpPr>
          <p:cNvPr id="5" name="Footnote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</a:rPr>
              <a:t>Documents ranked by EM-specific activation projection; 8 pre-registered binary labels; judge blind to group.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A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 OLMo">
  <a:themeElements>
    <a:clrScheme name="EM OLMo">
      <a:dk1>
        <a:srgbClr val="1E1F24"/>
      </a:dk1>
      <a:lt1>
        <a:srgbClr val="FFFFFF"/>
      </a:lt1>
      <a:dk2>
        <a:srgbClr val="3A3B41"/>
      </a:dk2>
      <a:lt2>
        <a:srgbClr val="F3F3F1"/>
      </a:lt2>
      <a:accent1>
        <a:srgbClr val="EB6834"/>
      </a:accent1>
      <a:accent2>
        <a:srgbClr val="2A78D6"/>
      </a:accent2>
      <a:accent3>
        <a:srgbClr val="8C8B86"/>
      </a:accent3>
      <a:accent4>
        <a:srgbClr val="1BAF7A"/>
      </a:accent4>
      <a:accent5>
        <a:srgbClr val="4A3AA7"/>
      </a:accent5>
      <a:accent6>
        <a:srgbClr val="E34948"/>
      </a:accent6>
      <a:hlink>
        <a:srgbClr val="2A78D6"/>
      </a:hlink>
      <a:folHlink>
        <a:srgbClr val="4A3AA7"/>
      </a:folHlink>
    </a:clrScheme>
    <a:fontScheme name="EM OLM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Emergent misalignment in OLMo 3</dc:title>
  <dc:subject>PptxGenJS Presentation</dc:subject>
  <dc:creator>PptxGenJS</dc:creator>
  <cp:lastModifiedBy>PptxGenJS</cp:lastModifiedBy>
  <cp:revision>1</cp:revision>
  <dcterms:created xsi:type="dcterms:W3CDTF">2026-10-04T04:13:38Z</dcterms:created>
  <dcterms:modified xsi:type="dcterms:W3CDTF">2026-10-04T04:13:38Z</dcterms:modified>
</cp:coreProperties>
</file>